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Schibsted Grotesk ExtraBold"/>
      <p:bold r:id="rId20"/>
      <p:boldItalic r:id="rId21"/>
    </p:embeddedFont>
    <p:embeddedFont>
      <p:font typeface="Fira Mono Medium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Schibsted Grotesk"/>
      <p:regular r:id="rId28"/>
      <p:bold r:id="rId29"/>
      <p:italic r:id="rId30"/>
      <p:boldItalic r:id="rId31"/>
    </p:embeddedFont>
    <p:embeddedFont>
      <p:font typeface="Fira Mono"/>
      <p:regular r:id="rId32"/>
      <p:bold r:id="rId33"/>
    </p:embeddedFont>
    <p:embeddedFont>
      <p:font typeface="Schibsted Grotesk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kQxrWIhJOaD3ziEsV4rp5sh4B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5B22B0-3B23-4974-810C-C83897EF1397}">
  <a:tblStyle styleId="{375B22B0-3B23-4974-810C-C83897EF13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1672316-A135-4AAE-929B-F5D92558E53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chibstedGroteskExtraBold-bold.fntdata"/><Relationship Id="rId22" Type="http://schemas.openxmlformats.org/officeDocument/2006/relationships/font" Target="fonts/FiraMonoMedium-regular.fntdata"/><Relationship Id="rId21" Type="http://schemas.openxmlformats.org/officeDocument/2006/relationships/font" Target="fonts/SchibstedGroteskExtraBold-boldItalic.fntdata"/><Relationship Id="rId24" Type="http://schemas.openxmlformats.org/officeDocument/2006/relationships/font" Target="fonts/Roboto-regular.fntdata"/><Relationship Id="rId23" Type="http://schemas.openxmlformats.org/officeDocument/2006/relationships/font" Target="fonts/FiraMono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SchibstedGrotesk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chibsted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chibstedGrotesk-boldItalic.fntdata"/><Relationship Id="rId30" Type="http://schemas.openxmlformats.org/officeDocument/2006/relationships/font" Target="fonts/SchibstedGrotesk-italic.fntdata"/><Relationship Id="rId11" Type="http://schemas.openxmlformats.org/officeDocument/2006/relationships/slide" Target="slides/slide6.xml"/><Relationship Id="rId33" Type="http://schemas.openxmlformats.org/officeDocument/2006/relationships/font" Target="fonts/FiraMono-bold.fntdata"/><Relationship Id="rId10" Type="http://schemas.openxmlformats.org/officeDocument/2006/relationships/slide" Target="slides/slide5.xml"/><Relationship Id="rId32" Type="http://schemas.openxmlformats.org/officeDocument/2006/relationships/font" Target="fonts/FiraMono-regular.fntdata"/><Relationship Id="rId13" Type="http://schemas.openxmlformats.org/officeDocument/2006/relationships/slide" Target="slides/slide8.xml"/><Relationship Id="rId35" Type="http://schemas.openxmlformats.org/officeDocument/2006/relationships/font" Target="fonts/SchibstedGroteskMedium-bold.fntdata"/><Relationship Id="rId12" Type="http://schemas.openxmlformats.org/officeDocument/2006/relationships/slide" Target="slides/slide7.xml"/><Relationship Id="rId34" Type="http://schemas.openxmlformats.org/officeDocument/2006/relationships/font" Target="fonts/SchibstedGroteskMedium-regular.fntdata"/><Relationship Id="rId15" Type="http://schemas.openxmlformats.org/officeDocument/2006/relationships/slide" Target="slides/slide10.xml"/><Relationship Id="rId37" Type="http://schemas.openxmlformats.org/officeDocument/2006/relationships/font" Target="fonts/SchibstedGrotesk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SchibstedGrotesk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adf4706f6affe00_0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adf4706f6affe00_0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adf4706f6affe00_0_127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adf4706f6affe00_0_127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adf4706f6affe00_0_12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adf4706f6affe00_0_12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adf4706f6affe00_0_129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adf4706f6affe00_0_129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adf4706f6affe00_0_13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adf4706f6affe00_0_13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" name="Google Shape;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" name="Google Shape;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58786" y="1243310"/>
            <a:ext cx="6349841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Schibsted Grotesk ExtraBold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¿Qué señales esconden las transacciones fraudulentas?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58786" y="4137323"/>
            <a:ext cx="1587460" cy="50701"/>
          </a:xfrm>
          <a:prstGeom prst="roundRect">
            <a:avLst>
              <a:gd fmla="val 49999" name="adj"/>
            </a:avLst>
          </a:prstGeom>
          <a:solidFill>
            <a:srgbClr val="438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58786" y="4580235"/>
            <a:ext cx="6349841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chibsted Grotesk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Análisis exploratorio de datos (EDA) sobre patrones asociados al fraude con tarjetas de crédito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58786" y="5383510"/>
            <a:ext cx="6756231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3BF"/>
              </a:buClr>
              <a:buSzPts val="1400"/>
              <a:buFont typeface="Fira Mono Medium"/>
              <a:buNone/>
            </a:pPr>
            <a:r>
              <a:rPr b="0" i="0" lang="en-US" sz="1400" u="none" cap="none" strike="noStrike">
                <a:solidFill>
                  <a:srgbClr val="A7B3B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(espacio para las cifras)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413" y="508000"/>
            <a:ext cx="4165496" cy="53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7467413" y="6011565"/>
            <a:ext cx="3571091" cy="338435"/>
          </a:xfrm>
          <a:prstGeom prst="roundRect">
            <a:avLst>
              <a:gd fmla="val 49999" name="adj"/>
            </a:avLst>
          </a:prstGeom>
          <a:noFill/>
          <a:ln cap="flat" cmpd="sng" w="9525">
            <a:solidFill>
              <a:srgbClr val="579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591235" y="6073477"/>
            <a:ext cx="3933032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Mono Medium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Dataset: n = 20.000 transacciones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07987" y="457200"/>
            <a:ext cx="7247252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79CC7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579CC7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DISTRIBUCIÓN GENERAL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7987" y="751185"/>
            <a:ext cx="7247252" cy="9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Total de transacciones y porcentaje de fraude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9019056" y="914995"/>
            <a:ext cx="2664651" cy="338435"/>
          </a:xfrm>
          <a:prstGeom prst="roundRect">
            <a:avLst>
              <a:gd fmla="val 49999" name="adj"/>
            </a:avLst>
          </a:prstGeom>
          <a:noFill/>
          <a:ln cap="flat" cmpd="sng" w="9525">
            <a:solidFill>
              <a:srgbClr val="579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142878" y="976908"/>
            <a:ext cx="2540829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n = 20.000 transacciones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7987" y="2455863"/>
            <a:ext cx="6073821" cy="3200400"/>
          </a:xfrm>
          <a:prstGeom prst="roundRect">
            <a:avLst>
              <a:gd fmla="val 3809" name="adj"/>
            </a:avLst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" name="Google Shape;33;p2"/>
          <p:cNvGraphicFramePr/>
          <p:nvPr/>
        </p:nvGraphicFramePr>
        <p:xfrm>
          <a:off x="787380" y="265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{375B22B0-3B23-4974-810C-C83897EF1397}</a:tableStyleId>
              </a:tblPr>
              <a:tblGrid>
                <a:gridCol w="2206025"/>
                <a:gridCol w="1654500"/>
                <a:gridCol w="1654500"/>
              </a:tblGrid>
              <a:tr h="79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Tipo de transacción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Cantidad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Porcentaje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</a:tr>
              <a:tr h="49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4A73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174A73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●</a:t>
                      </a: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 Fraude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339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4A73"/>
                        </a:buClr>
                        <a:buSzPts val="1800"/>
                        <a:buFont typeface="Fira Mono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74A73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1.7 %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</a:tr>
              <a:tr h="49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5678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215678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▲</a:t>
                      </a: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 No fraude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19.661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98.31 %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</a:tr>
              <a:tr h="49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Total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20.000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Fira Mono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100.0 %</a:t>
                      </a:r>
                      <a:endParaRPr sz="1800" u="none" cap="none" strike="noStrike"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50" marB="91450" marR="171450" marL="171450" anchor="ctr">
                    <a:lnL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275">
                      <a:solidFill>
                        <a:srgbClr val="4457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27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34" name="Google Shape;34;p2"/>
          <p:cNvSpPr/>
          <p:nvPr/>
        </p:nvSpPr>
        <p:spPr>
          <a:xfrm>
            <a:off x="7038898" y="2455863"/>
            <a:ext cx="4644810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7600"/>
              <a:buFont typeface="Fira Mono"/>
              <a:buNone/>
            </a:pPr>
            <a:r>
              <a:rPr b="1" lang="en-US" sz="7600">
                <a:solidFill>
                  <a:srgbClr val="4386B5"/>
                </a:solidFill>
                <a:latin typeface="Fira Mono"/>
                <a:ea typeface="Fira Mono"/>
                <a:cs typeface="Fira Mono"/>
                <a:sym typeface="Fira Mono"/>
              </a:rPr>
              <a:t>1.7%</a:t>
            </a:r>
            <a:endParaRPr sz="7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038898" y="3746798"/>
            <a:ext cx="1161029" cy="50701"/>
          </a:xfrm>
          <a:prstGeom prst="roundRect">
            <a:avLst>
              <a:gd fmla="val 49999" name="adj"/>
            </a:avLst>
          </a:prstGeom>
          <a:solidFill>
            <a:srgbClr val="438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038898" y="4030960"/>
            <a:ext cx="464481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chibsted Grotesk Medium"/>
              <a:buNone/>
            </a:pPr>
            <a:r>
              <a:rPr lang="en-US" sz="2200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Del 100% de las transacciones, el 1.7% es fraude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038898" y="4963021"/>
            <a:ext cx="464481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3BF"/>
              </a:buClr>
              <a:buSzPts val="1400"/>
              <a:buFont typeface="Fira Mono Medium"/>
              <a:buNone/>
            </a:pPr>
            <a:r>
              <a:rPr lang="en-US" sz="1400">
                <a:solidFill>
                  <a:srgbClr val="A7B3B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La baja tasa base refleja el desbalance típico en detección de fraudes (339 de 20.000 transacciones).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554429" y="6526510"/>
            <a:ext cx="637266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57189" y="355600"/>
            <a:ext cx="7680728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79CC7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579CC7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ANÁLISIS POR CANAL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189" y="649585"/>
            <a:ext cx="7680728" cy="9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Tasa de fraude por canal de transacción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9170560" y="813395"/>
            <a:ext cx="2563947" cy="338435"/>
          </a:xfrm>
          <a:prstGeom prst="roundRect">
            <a:avLst>
              <a:gd fmla="val 49999" name="adj"/>
            </a:avLst>
          </a:prstGeom>
          <a:noFill/>
          <a:ln cap="flat" cmpd="sng" w="9525">
            <a:solidFill>
              <a:srgbClr val="579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9294382" y="875308"/>
            <a:ext cx="2440125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339 fraudes registrados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345377" y="2129830"/>
            <a:ext cx="4389129" cy="1594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chibsted Grotesk Medium"/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279675" y="2627524"/>
            <a:ext cx="4389000" cy="2625900"/>
          </a:xfrm>
          <a:prstGeom prst="roundRect">
            <a:avLst>
              <a:gd fmla="val 5053" name="adj"/>
            </a:avLst>
          </a:prstGeom>
          <a:solidFill>
            <a:srgbClr val="2245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508271" y="2972027"/>
            <a:ext cx="39318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chibsted Grotesk"/>
              <a:buNone/>
            </a:pPr>
            <a:r>
              <a:t/>
            </a:r>
            <a:endParaRPr sz="1550">
              <a:solidFill>
                <a:srgbClr val="FFFFFF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chibsted Grotesk"/>
              <a:buNone/>
            </a:pPr>
            <a:r>
              <a:rPr lang="en-US" sz="1550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En este conjunto hubo más fraudes online, pero la diferencia fue pequeña. Como el análisis incluye solo transacciones fraudulentas, no permite saber si las compras online tenían mayor probabilidad de fraude.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189" y="6271320"/>
            <a:ext cx="11734506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3BF"/>
              </a:buClr>
              <a:buSzPts val="1400"/>
              <a:buFont typeface="Fira Mono Medium"/>
              <a:buNone/>
            </a:pPr>
            <a:r>
              <a:rPr lang="en-US" sz="1400">
                <a:solidFill>
                  <a:srgbClr val="A7B3B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channel | transacciones | fraudes | porcentaje_fraude_en_canal | porcentaje_del_total_de_fraudes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552643" y="6526510"/>
            <a:ext cx="639052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7373" t="0"/>
          <a:stretch/>
        </p:blipFill>
        <p:spPr>
          <a:xfrm>
            <a:off x="362625" y="2129825"/>
            <a:ext cx="6815837" cy="357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189" y="330200"/>
            <a:ext cx="7680728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79CC7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579CC7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REINTENTOS CVV Y TIPO DE TARJETA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189" y="624185"/>
            <a:ext cx="7680728" cy="9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Porcentaje de fraude según franquicia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98550" y="5308375"/>
            <a:ext cx="101949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600"/>
              <a:buFont typeface="Schibsted Grotesk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600"/>
              <a:buFont typeface="Schibsted Grotesk"/>
              <a:buNone/>
            </a:pPr>
            <a:r>
              <a:rPr lang="en-US" sz="16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 los 339 fraudes analizados, 150 (44,25 %) fueron con tarjetas Visa y 102 (30,09 %) con Mastercard. Juntas representan cerca de tres de cada cuatro fraudes registrados. Esto indica que Visa y Mastercard aparecen con más frecuencia en los casos de fraude de este conjunto; no significa que sean más propensas al fraude, porque aquí solo se analizaron transacciones fraudulentas.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552048" y="6526510"/>
            <a:ext cx="639647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625" y="1663600"/>
            <a:ext cx="7498851" cy="37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392889" y="98025"/>
            <a:ext cx="7680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79CC7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579CC7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SEGURIDAD Y AUTENTICACIÓN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2149" y="457577"/>
            <a:ext cx="69153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La tasa de fraude varía según el método de autenticación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474839" y="181107"/>
            <a:ext cx="2463300" cy="338400"/>
          </a:xfrm>
          <a:prstGeom prst="roundRect">
            <a:avLst>
              <a:gd fmla="val 49999" name="adj"/>
            </a:avLst>
          </a:prstGeom>
          <a:noFill/>
          <a:ln cap="flat" cmpd="sng" w="9525">
            <a:solidFill>
              <a:srgbClr val="579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598686" y="243083"/>
            <a:ext cx="23394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Comparativa de métodos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669539" y="5761127"/>
            <a:ext cx="6852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chibsted Grotesk Medium"/>
              <a:buNone/>
            </a:pPr>
            <a:r>
              <a:rPr lang="en-US" sz="1550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La tasa de fraude varía según el método de autenticación utilizado.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1549766" y="6526510"/>
            <a:ext cx="642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324638" y="3875488"/>
            <a:ext cx="3582600" cy="1272900"/>
          </a:xfrm>
          <a:prstGeom prst="roundRect">
            <a:avLst>
              <a:gd fmla="val 7209" name="adj"/>
            </a:avLst>
          </a:prstGeom>
          <a:solidFill>
            <a:srgbClr val="E8EDF2"/>
          </a:solidFill>
          <a:ln>
            <a:noFill/>
          </a:ln>
          <a:effectLst>
            <a:outerShdw blurRad="57150" rotWithShape="0" algn="bl" dir="7200000" dist="19050">
              <a:srgbClr val="EAF0F5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19">
              <a:solidFill>
                <a:srgbClr val="174A73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360804" y="3994338"/>
            <a:ext cx="351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74A73"/>
              </a:buClr>
              <a:buSzPts val="3070"/>
              <a:buFont typeface="Fira Mono"/>
              <a:buNone/>
            </a:pPr>
            <a:r>
              <a:rPr b="1" lang="en-US" sz="2619">
                <a:solidFill>
                  <a:srgbClr val="174A73"/>
                </a:solidFill>
                <a:latin typeface="Fira Mono"/>
                <a:ea typeface="Fira Mono"/>
                <a:cs typeface="Fira Mono"/>
                <a:sym typeface="Fira Mono"/>
              </a:rPr>
              <a:t>0,78</a:t>
            </a:r>
            <a:r>
              <a:rPr b="1" lang="en-US" sz="2619">
                <a:solidFill>
                  <a:srgbClr val="174A73"/>
                </a:solidFill>
                <a:latin typeface="Fira Mono"/>
                <a:ea typeface="Fira Mono"/>
                <a:cs typeface="Fira Mono"/>
                <a:sym typeface="Fira Mono"/>
              </a:rPr>
              <a:t> %</a:t>
            </a:r>
            <a:endParaRPr b="1" sz="2619">
              <a:solidFill>
                <a:srgbClr val="174A73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360829" y="4439551"/>
            <a:ext cx="3510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chibsted Grotesk Medium"/>
              <a:buNone/>
            </a:pPr>
            <a:r>
              <a:rPr lang="en-US" sz="1500">
                <a:solidFill>
                  <a:srgbClr val="000000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Biométrica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349729" y="4788613"/>
            <a:ext cx="3738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Schibsted Grotesk"/>
              <a:buNone/>
            </a:pPr>
            <a:r>
              <a:rPr lang="en-US" sz="1500">
                <a:solidFill>
                  <a:srgbClr val="00000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Menor tasa de fraude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324650" y="2104462"/>
            <a:ext cx="3582600" cy="1527300"/>
          </a:xfrm>
          <a:prstGeom prst="roundRect">
            <a:avLst>
              <a:gd fmla="val 7209" name="adj"/>
            </a:avLst>
          </a:prstGeom>
          <a:solidFill>
            <a:srgbClr val="E8EDF2"/>
          </a:solidFill>
          <a:ln>
            <a:noFill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531074" y="2287954"/>
            <a:ext cx="3169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74A73"/>
              </a:buClr>
              <a:buSzPts val="3070"/>
              <a:buFont typeface="Fira Mono"/>
              <a:buNone/>
            </a:pPr>
            <a:r>
              <a:rPr b="1" lang="en-US" sz="2619">
                <a:solidFill>
                  <a:srgbClr val="174A73"/>
                </a:solidFill>
                <a:latin typeface="Fira Mono"/>
                <a:ea typeface="Fira Mono"/>
                <a:cs typeface="Fira Mono"/>
                <a:sym typeface="Fira Mono"/>
              </a:rPr>
              <a:t>4,44 %</a:t>
            </a:r>
            <a:endParaRPr sz="26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531074" y="2781089"/>
            <a:ext cx="31698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Schibsted Grotesk Medium"/>
              <a:buNone/>
            </a:pPr>
            <a:r>
              <a:rPr lang="en-US" sz="1355"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15</a:t>
            </a:r>
            <a:endParaRPr sz="13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531074" y="3208281"/>
            <a:ext cx="3376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chibsted Grotesk"/>
              <a:buNone/>
            </a:pPr>
            <a:r>
              <a:rPr lang="en-US" sz="1355">
                <a:solidFill>
                  <a:srgbClr val="00000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Mayor tasa de fraude</a:t>
            </a:r>
            <a:endParaRPr sz="13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75" y="2104450"/>
            <a:ext cx="6046525" cy="308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457189" y="355600"/>
            <a:ext cx="7680728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79CC7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579CC7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TEMPORALIDAD Y RUBROS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189" y="649585"/>
            <a:ext cx="7680728" cy="9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La tasa y el número de fraudes varían según la categoría y el día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9472673" y="813395"/>
            <a:ext cx="2261833" cy="338435"/>
          </a:xfrm>
          <a:prstGeom prst="roundRect">
            <a:avLst>
              <a:gd fmla="val 49999" name="adj"/>
            </a:avLst>
          </a:prstGeom>
          <a:noFill/>
          <a:ln cap="flat" cmpd="sng" w="9525">
            <a:solidFill>
              <a:srgbClr val="579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596495" y="875308"/>
            <a:ext cx="2138011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Mono Medium"/>
              <a:buNone/>
            </a:pPr>
            <a:r>
              <a:rPr lang="en-US" sz="1300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Mapa térmico y picos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189" y="5295010"/>
            <a:ext cx="6492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chibsted Grotesk Medium"/>
              <a:buNone/>
            </a:pPr>
            <a:r>
              <a:rPr lang="en-US" sz="1800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El porcentaje identifica la incidencia relativa del fraude, mientras que el número de casos permite dimensionar su concentración real.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406395" y="1787426"/>
            <a:ext cx="4328111" cy="4714974"/>
          </a:xfrm>
          <a:prstGeom prst="roundRect">
            <a:avLst>
              <a:gd fmla="val 2817" name="adj"/>
            </a:avLst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609590" y="1965226"/>
            <a:ext cx="392172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chibsted Grotesk Medium"/>
              <a:buNone/>
            </a:pPr>
            <a:r>
              <a:rPr lang="en-US" sz="2000"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Principales hallazgos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609590" y="2493863"/>
            <a:ext cx="3921721" cy="31651"/>
          </a:xfrm>
          <a:prstGeom prst="roundRect">
            <a:avLst>
              <a:gd fmla="val 49998" name="adj"/>
            </a:avLst>
          </a:prstGeom>
          <a:solidFill>
            <a:srgbClr val="1D2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609590" y="2758976"/>
            <a:ext cx="3921721" cy="3291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74A73"/>
              </a:buClr>
              <a:buSzPts val="2200"/>
              <a:buFont typeface="Schibsted Grotesk"/>
              <a:buNone/>
            </a:pPr>
            <a:r>
              <a:rPr b="1" lang="en-US" sz="2200">
                <a:solidFill>
                  <a:srgbClr val="174A73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9,30 %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rPr b="1" lang="en-US" sz="1800">
                <a:latin typeface="Schibsted Grotesk"/>
                <a:ea typeface="Schibsted Grotesk"/>
                <a:cs typeface="Schibsted Grotesk"/>
                <a:sym typeface="Schibsted Grotesk"/>
              </a:rPr>
              <a:t>Gift Cards / jueves → 8 casos </a:t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66576"/>
              </a:buClr>
              <a:buSzPts val="2200"/>
              <a:buFont typeface="Schibsted Grotesk"/>
              <a:buNone/>
            </a:pPr>
            <a:r>
              <a:t/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66576"/>
              </a:buClr>
              <a:buSzPts val="2200"/>
              <a:buFont typeface="Schibsted Grotesk"/>
              <a:buNone/>
            </a:pPr>
            <a:r>
              <a:rPr b="1" lang="en-US" sz="2200">
                <a:solidFill>
                  <a:srgbClr val="566576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2,51 % </a:t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Groceries / domingo →  </a:t>
            </a:r>
            <a:r>
              <a:rPr b="1" lang="en-US" sz="1800">
                <a:latin typeface="Schibsted Grotesk"/>
                <a:ea typeface="Schibsted Grotesk"/>
                <a:cs typeface="Schibsted Grotesk"/>
                <a:sym typeface="Schibsted Grotesk"/>
              </a:rPr>
              <a:t>12 casos </a:t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t/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t/>
            </a:r>
            <a:endParaRPr b="1" sz="1800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15678"/>
              </a:buClr>
              <a:buSzPts val="2200"/>
              <a:buFont typeface="Schibsted Grotesk"/>
              <a:buNone/>
            </a:pPr>
            <a:r>
              <a:rPr b="1" lang="en-US" sz="2200">
                <a:solidFill>
                  <a:srgbClr val="21567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6,45 %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0000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Gaming / domingo → </a:t>
            </a:r>
            <a:r>
              <a:rPr b="1" lang="en-US" sz="1800">
                <a:latin typeface="Schibsted Grotesk"/>
                <a:ea typeface="Schibsted Grotesk"/>
                <a:cs typeface="Schibsted Grotesk"/>
                <a:sym typeface="Schibsted Grotesk"/>
              </a:rPr>
              <a:t>10 casos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chibsted Grotesk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1547285" y="6526510"/>
            <a:ext cx="644410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21450"/>
            <a:ext cx="6141806" cy="34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333725" y="413900"/>
            <a:ext cx="10555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Compras en comercios por primera vez vs Categoría del Comercio vs Fraude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75" y="1642251"/>
            <a:ext cx="6632026" cy="4737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7"/>
          <p:cNvGrpSpPr/>
          <p:nvPr/>
        </p:nvGrpSpPr>
        <p:grpSpPr>
          <a:xfrm>
            <a:off x="7708825" y="3049475"/>
            <a:ext cx="3582600" cy="1922700"/>
            <a:chOff x="7638275" y="2445925"/>
            <a:chExt cx="3582600" cy="1922700"/>
          </a:xfrm>
        </p:grpSpPr>
        <p:sp>
          <p:nvSpPr>
            <p:cNvPr id="108" name="Google Shape;108;p7"/>
            <p:cNvSpPr/>
            <p:nvPr/>
          </p:nvSpPr>
          <p:spPr>
            <a:xfrm>
              <a:off x="7638275" y="2445925"/>
              <a:ext cx="3582600" cy="1922700"/>
            </a:xfrm>
            <a:prstGeom prst="roundRect">
              <a:avLst>
                <a:gd fmla="val 7209" name="adj"/>
              </a:avLst>
            </a:prstGeom>
            <a:solidFill>
              <a:srgbClr val="E8EDF2"/>
            </a:solidFill>
            <a:ln>
              <a:noFill/>
            </a:ln>
          </p:spPr>
          <p:txBody>
            <a:bodyPr anchorCtr="0" anchor="ctr" bIns="82550" lIns="82550" spcFirstLastPara="1" rIns="82550" wrap="square" tIns="8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7638275" y="2603989"/>
              <a:ext cx="3582600" cy="16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800"/>
                </a:spcBef>
                <a:spcAft>
                  <a:spcPts val="400"/>
                </a:spcAft>
                <a:buNone/>
              </a:pPr>
              <a:r>
                <a:rPr b="1" lang="en-US" sz="1700">
                  <a:solidFill>
                    <a:srgbClr val="174A73"/>
                  </a:solidFill>
                  <a:latin typeface="Schibsted Grotesk"/>
                  <a:ea typeface="Schibsted Grotesk"/>
                  <a:cs typeface="Schibsted Grotesk"/>
                  <a:sym typeface="Schibsted Grotesk"/>
                </a:rPr>
                <a:t>Dentro de cada grupo de mercado, la proporción de transacciones fraudulentas fue mayor entre los comercios nuevos </a:t>
              </a:r>
              <a:endParaRPr sz="1100">
                <a:solidFill>
                  <a:srgbClr val="174A73"/>
                </a:solidFill>
                <a:latin typeface="Schibsted Grotesk"/>
                <a:ea typeface="Schibsted Grotesk"/>
                <a:cs typeface="Schibsted Grotesk"/>
                <a:sym typeface="Schibsted Grotesk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558786" y="751185"/>
            <a:ext cx="11074123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Tipo de dispositivo vs Apoyo de IA vs Fraude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921326" y="3563045"/>
            <a:ext cx="5406691" cy="31651"/>
          </a:xfrm>
          <a:prstGeom prst="roundRect">
            <a:avLst>
              <a:gd fmla="val 49998" name="adj"/>
            </a:avLst>
          </a:prstGeom>
          <a:solidFill>
            <a:srgbClr val="1D2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1549766" y="6526510"/>
            <a:ext cx="6419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3EEE7"/>
              </a:buClr>
              <a:buSzPts val="1200"/>
              <a:buFont typeface="Schibsted Grotesk"/>
              <a:buNone/>
            </a:pPr>
            <a:r>
              <a:rPr lang="en-US" sz="1200">
                <a:solidFill>
                  <a:srgbClr val="E3EEE7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650" y="1749775"/>
            <a:ext cx="7817101" cy="43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/>
          <p:nvPr/>
        </p:nvSpPr>
        <p:spPr>
          <a:xfrm>
            <a:off x="265225" y="1749464"/>
            <a:ext cx="3582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R</a:t>
            </a:r>
            <a:r>
              <a:rPr b="1" lang="en-US" sz="1900">
                <a:solidFill>
                  <a:schemeClr val="lt1"/>
                </a:solidFill>
              </a:rPr>
              <a:t>evela segmentos de mayor riesgo</a:t>
            </a:r>
            <a:endParaRPr sz="1300">
              <a:solidFill>
                <a:schemeClr val="lt1"/>
              </a:solidFill>
            </a:endParaRPr>
          </a:p>
        </p:txBody>
      </p:sp>
      <p:grpSp>
        <p:nvGrpSpPr>
          <p:cNvPr id="120" name="Google Shape;120;p8"/>
          <p:cNvGrpSpPr/>
          <p:nvPr/>
        </p:nvGrpSpPr>
        <p:grpSpPr>
          <a:xfrm>
            <a:off x="265225" y="2563068"/>
            <a:ext cx="3582600" cy="1011900"/>
            <a:chOff x="2338725" y="2227929"/>
            <a:chExt cx="3582600" cy="1011900"/>
          </a:xfrm>
        </p:grpSpPr>
        <p:sp>
          <p:nvSpPr>
            <p:cNvPr id="121" name="Google Shape;121;p8"/>
            <p:cNvSpPr/>
            <p:nvPr/>
          </p:nvSpPr>
          <p:spPr>
            <a:xfrm>
              <a:off x="2338725" y="2227929"/>
              <a:ext cx="3582600" cy="1011900"/>
            </a:xfrm>
            <a:prstGeom prst="roundRect">
              <a:avLst>
                <a:gd fmla="val 7209" name="adj"/>
              </a:avLst>
            </a:prstGeom>
            <a:solidFill>
              <a:srgbClr val="E8EDF2"/>
            </a:solidFill>
            <a:ln>
              <a:noFill/>
            </a:ln>
          </p:spPr>
          <p:txBody>
            <a:bodyPr anchorCtr="0" anchor="ctr" bIns="82550" lIns="82550" spcFirstLastPara="1" rIns="82550" wrap="square" tIns="8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2816324" y="2676000"/>
              <a:ext cx="12960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00">
                  <a:solidFill>
                    <a:srgbClr val="22455D"/>
                  </a:solidFill>
                </a:rPr>
                <a:t>13,39 %</a:t>
              </a:r>
              <a:endParaRPr sz="2619">
                <a:solidFill>
                  <a:srgbClr val="2245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3043425" y="2293650"/>
              <a:ext cx="217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>
                  <a:solidFill>
                    <a:srgbClr val="174A73"/>
                  </a:solidFill>
                </a:rPr>
                <a:t>Android Phone + IA</a:t>
              </a:r>
              <a:endParaRPr b="1">
                <a:solidFill>
                  <a:srgbClr val="174A73"/>
                </a:solidFill>
              </a:endParaRPr>
            </a:p>
          </p:txBody>
        </p:sp>
        <p:sp>
          <p:nvSpPr>
            <p:cNvPr id="124" name="Google Shape;124;p8"/>
            <p:cNvSpPr txBox="1"/>
            <p:nvPr/>
          </p:nvSpPr>
          <p:spPr>
            <a:xfrm>
              <a:off x="4209825" y="2693850"/>
              <a:ext cx="1588200" cy="354000"/>
            </a:xfrm>
            <a:prstGeom prst="rect">
              <a:avLst/>
            </a:prstGeom>
            <a:solidFill>
              <a:srgbClr val="174A7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15 Fraudes / 112 Trx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  <p:grpSp>
        <p:nvGrpSpPr>
          <p:cNvPr id="125" name="Google Shape;125;p8"/>
          <p:cNvGrpSpPr/>
          <p:nvPr/>
        </p:nvGrpSpPr>
        <p:grpSpPr>
          <a:xfrm>
            <a:off x="265225" y="3771093"/>
            <a:ext cx="3582600" cy="1011900"/>
            <a:chOff x="2338725" y="3594704"/>
            <a:chExt cx="3582600" cy="1011900"/>
          </a:xfrm>
        </p:grpSpPr>
        <p:sp>
          <p:nvSpPr>
            <p:cNvPr id="126" name="Google Shape;126;p8"/>
            <p:cNvSpPr/>
            <p:nvPr/>
          </p:nvSpPr>
          <p:spPr>
            <a:xfrm>
              <a:off x="2338725" y="3594704"/>
              <a:ext cx="3582600" cy="1011900"/>
            </a:xfrm>
            <a:prstGeom prst="roundRect">
              <a:avLst>
                <a:gd fmla="val 7209" name="adj"/>
              </a:avLst>
            </a:prstGeom>
            <a:solidFill>
              <a:srgbClr val="E8EDF2"/>
            </a:solidFill>
            <a:ln>
              <a:noFill/>
            </a:ln>
          </p:spPr>
          <p:txBody>
            <a:bodyPr anchorCtr="0" anchor="ctr" bIns="82550" lIns="82550" spcFirstLastPara="1" rIns="82550" wrap="square" tIns="8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816324" y="4042775"/>
              <a:ext cx="12960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400"/>
                </a:spcBef>
                <a:spcAft>
                  <a:spcPts val="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00">
                  <a:solidFill>
                    <a:srgbClr val="22455D"/>
                  </a:solidFill>
                </a:rPr>
                <a:t>8</a:t>
              </a:r>
              <a:r>
                <a:rPr b="1" lang="en-US" sz="2300">
                  <a:solidFill>
                    <a:srgbClr val="22455D"/>
                  </a:solidFill>
                </a:rPr>
                <a:t> %</a:t>
              </a:r>
              <a:endParaRPr sz="2619">
                <a:solidFill>
                  <a:srgbClr val="2245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8"/>
            <p:cNvSpPr txBox="1"/>
            <p:nvPr/>
          </p:nvSpPr>
          <p:spPr>
            <a:xfrm>
              <a:off x="3043425" y="3660425"/>
              <a:ext cx="217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>
                  <a:solidFill>
                    <a:srgbClr val="174A73"/>
                  </a:solidFill>
                </a:rPr>
                <a:t>Windows PC + IA</a:t>
              </a:r>
              <a:endParaRPr b="1">
                <a:solidFill>
                  <a:srgbClr val="174A73"/>
                </a:solidFill>
              </a:endParaRPr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4209825" y="4060625"/>
              <a:ext cx="1588200" cy="354000"/>
            </a:xfrm>
            <a:prstGeom prst="rect">
              <a:avLst/>
            </a:prstGeom>
            <a:solidFill>
              <a:srgbClr val="174A7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4</a:t>
              </a:r>
              <a:r>
                <a:rPr b="1" lang="en-US" sz="1100">
                  <a:solidFill>
                    <a:schemeClr val="lt1"/>
                  </a:solidFill>
                </a:rPr>
                <a:t> Fraudes / 50 Trx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  <p:grpSp>
        <p:nvGrpSpPr>
          <p:cNvPr id="130" name="Google Shape;130;p8"/>
          <p:cNvGrpSpPr/>
          <p:nvPr/>
        </p:nvGrpSpPr>
        <p:grpSpPr>
          <a:xfrm>
            <a:off x="265225" y="4979118"/>
            <a:ext cx="3582600" cy="1011900"/>
            <a:chOff x="2338725" y="4961479"/>
            <a:chExt cx="3582600" cy="1011900"/>
          </a:xfrm>
        </p:grpSpPr>
        <p:sp>
          <p:nvSpPr>
            <p:cNvPr id="131" name="Google Shape;131;p8"/>
            <p:cNvSpPr/>
            <p:nvPr/>
          </p:nvSpPr>
          <p:spPr>
            <a:xfrm>
              <a:off x="2338725" y="4961479"/>
              <a:ext cx="3582600" cy="1011900"/>
            </a:xfrm>
            <a:prstGeom prst="roundRect">
              <a:avLst>
                <a:gd fmla="val 7209" name="adj"/>
              </a:avLst>
            </a:prstGeom>
            <a:solidFill>
              <a:srgbClr val="E8EDF2"/>
            </a:solidFill>
            <a:ln>
              <a:noFill/>
            </a:ln>
          </p:spPr>
          <p:txBody>
            <a:bodyPr anchorCtr="0" anchor="ctr" bIns="82550" lIns="82550" spcFirstLastPara="1" rIns="82550" wrap="square" tIns="8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2816324" y="5409550"/>
              <a:ext cx="12960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400"/>
                </a:spcBef>
                <a:spcAft>
                  <a:spcPts val="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00">
                  <a:solidFill>
                    <a:srgbClr val="22455D"/>
                  </a:solidFill>
                </a:rPr>
                <a:t>7,4</a:t>
              </a:r>
              <a:r>
                <a:rPr b="1" lang="en-US" sz="2300">
                  <a:solidFill>
                    <a:srgbClr val="22455D"/>
                  </a:solidFill>
                </a:rPr>
                <a:t> %</a:t>
              </a:r>
              <a:endParaRPr sz="2619">
                <a:solidFill>
                  <a:srgbClr val="2245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3043425" y="5027200"/>
              <a:ext cx="217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>
                  <a:solidFill>
                    <a:srgbClr val="174A73"/>
                  </a:solidFill>
                </a:rPr>
                <a:t>iPhone</a:t>
              </a:r>
              <a:r>
                <a:rPr b="1" lang="en-US">
                  <a:solidFill>
                    <a:srgbClr val="174A73"/>
                  </a:solidFill>
                </a:rPr>
                <a:t> + IA</a:t>
              </a:r>
              <a:endParaRPr b="1">
                <a:solidFill>
                  <a:srgbClr val="174A73"/>
                </a:solidFill>
              </a:endParaRPr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4209825" y="5427400"/>
              <a:ext cx="1588200" cy="354000"/>
            </a:xfrm>
            <a:prstGeom prst="rect">
              <a:avLst/>
            </a:prstGeom>
            <a:solidFill>
              <a:srgbClr val="174A7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6</a:t>
              </a:r>
              <a:r>
                <a:rPr b="1" lang="en-US" sz="1100">
                  <a:solidFill>
                    <a:schemeClr val="lt1"/>
                  </a:solidFill>
                </a:rPr>
                <a:t> Fraudes / 81 Trx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8336052" y="6137275"/>
            <a:ext cx="2139698" cy="351532"/>
          </a:xfrm>
          <a:prstGeom prst="roundRect">
            <a:avLst>
              <a:gd fmla="val 20490" name="adj"/>
            </a:avLst>
          </a:prstGeom>
          <a:solidFill>
            <a:srgbClr val="1529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8633"/>
            <a:ext cx="12192001" cy="6096001"/>
          </a:xfrm>
          <a:prstGeom prst="rect">
            <a:avLst/>
          </a:prstGeom>
          <a:solidFill>
            <a:srgbClr val="14263D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hadf4706f6affe00_0_2"/>
          <p:cNvGrpSpPr/>
          <p:nvPr/>
        </p:nvGrpSpPr>
        <p:grpSpPr>
          <a:xfrm>
            <a:off x="4730522" y="1616878"/>
            <a:ext cx="4106542" cy="2228586"/>
            <a:chOff x="3727718" y="1541494"/>
            <a:chExt cx="3079984" cy="1671481"/>
          </a:xfrm>
        </p:grpSpPr>
        <p:sp>
          <p:nvSpPr>
            <p:cNvPr id="148" name="Google Shape;148;hadf4706f6affe00_0_2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307AF3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hadf4706f6affe00_0_2"/>
            <p:cNvGrpSpPr/>
            <p:nvPr/>
          </p:nvGrpSpPr>
          <p:grpSpPr>
            <a:xfrm>
              <a:off x="3727718" y="1541494"/>
              <a:ext cx="2253600" cy="1670396"/>
              <a:chOff x="3727718" y="1541494"/>
              <a:chExt cx="2253600" cy="1670396"/>
            </a:xfrm>
          </p:grpSpPr>
          <p:grpSp>
            <p:nvGrpSpPr>
              <p:cNvPr id="150" name="Google Shape;150;hadf4706f6affe00_0_2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51" name="Google Shape;151;hadf4706f6affe00_0_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2" name="Google Shape;152;hadf4706f6affe00_0_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  <a:reflection blurRad="0" dir="5400000" dist="38100" endA="0" endPos="30000" fadeDir="5400012" kx="0" rotWithShape="0" algn="bl" stPos="0" sy="-100000" ky="0"/>
                </a:effectLst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3" name="Google Shape;153;hadf4706f6affe00_0_2"/>
              <p:cNvSpPr txBox="1"/>
              <p:nvPr/>
            </p:nvSpPr>
            <p:spPr>
              <a:xfrm>
                <a:off x="3727718" y="1541494"/>
                <a:ext cx="2253600" cy="12033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DataFrame de Entrenamiento y de Testeo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Variables continuas, numéricas, nominales y ordinales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División 70 - 30 (14,000 y 6,000)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Pipeline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Threshold (umbral)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</p:txBody>
          </p:sp>
        </p:grpSp>
      </p:grpSp>
      <p:grpSp>
        <p:nvGrpSpPr>
          <p:cNvPr id="154" name="Google Shape;154;hadf4706f6affe00_0_2"/>
          <p:cNvGrpSpPr/>
          <p:nvPr/>
        </p:nvGrpSpPr>
        <p:grpSpPr>
          <a:xfrm>
            <a:off x="7343459" y="3656733"/>
            <a:ext cx="4636582" cy="1882915"/>
            <a:chOff x="5679426" y="3079467"/>
            <a:chExt cx="3477524" cy="1412221"/>
          </a:xfrm>
        </p:grpSpPr>
        <p:sp>
          <p:nvSpPr>
            <p:cNvPr id="155" name="Google Shape;155;hadf4706f6affe00_0_2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942A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hadf4706f6affe00_0_2"/>
            <p:cNvGrpSpPr/>
            <p:nvPr/>
          </p:nvGrpSpPr>
          <p:grpSpPr>
            <a:xfrm>
              <a:off x="5679426" y="3079467"/>
              <a:ext cx="2253600" cy="1412221"/>
              <a:chOff x="5679426" y="3079467"/>
              <a:chExt cx="2253600" cy="1412221"/>
            </a:xfrm>
          </p:grpSpPr>
          <p:grpSp>
            <p:nvGrpSpPr>
              <p:cNvPr id="157" name="Google Shape;157;hadf4706f6affe00_0_2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58" name="Google Shape;158;hadf4706f6affe00_0_2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9" name="Google Shape;159;hadf4706f6affe00_0_2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60" name="Google Shape;160;hadf4706f6affe00_0_2"/>
              <p:cNvSpPr txBox="1"/>
              <p:nvPr/>
            </p:nvSpPr>
            <p:spPr>
              <a:xfrm>
                <a:off x="5679426" y="3547889"/>
                <a:ext cx="2253600" cy="9438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Matriz de Confusión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Prueba de diferentes Threshold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Métricas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Curvas evaluadas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</p:txBody>
          </p:sp>
        </p:grpSp>
      </p:grpSp>
      <p:grpSp>
        <p:nvGrpSpPr>
          <p:cNvPr id="161" name="Google Shape;161;hadf4706f6affe00_0_2"/>
          <p:cNvGrpSpPr/>
          <p:nvPr/>
        </p:nvGrpSpPr>
        <p:grpSpPr>
          <a:xfrm>
            <a:off x="123022" y="1713563"/>
            <a:ext cx="3459779" cy="3202076"/>
            <a:chOff x="296101" y="1599937"/>
            <a:chExt cx="2594899" cy="2401617"/>
          </a:xfrm>
        </p:grpSpPr>
        <p:sp>
          <p:nvSpPr>
            <p:cNvPr id="162" name="Google Shape;162;hadf4706f6affe00_0_2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307AF3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hadf4706f6affe00_0_2"/>
            <p:cNvGrpSpPr/>
            <p:nvPr/>
          </p:nvGrpSpPr>
          <p:grpSpPr>
            <a:xfrm>
              <a:off x="296101" y="1599937"/>
              <a:ext cx="1872600" cy="2401617"/>
              <a:chOff x="296101" y="1599937"/>
              <a:chExt cx="1872600" cy="2401617"/>
            </a:xfrm>
          </p:grpSpPr>
          <p:sp>
            <p:nvSpPr>
              <p:cNvPr id="164" name="Google Shape;164;hadf4706f6affe00_0_2"/>
              <p:cNvSpPr txBox="1"/>
              <p:nvPr/>
            </p:nvSpPr>
            <p:spPr>
              <a:xfrm>
                <a:off x="496000" y="3215254"/>
                <a:ext cx="945000" cy="7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Limpieza de Datos</a:t>
                </a:r>
                <a:endParaRPr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2100"/>
                  </a:spcBef>
                  <a:spcAft>
                    <a:spcPts val="2100"/>
                  </a:spcAft>
                  <a:buNone/>
                </a:pPr>
                <a:r>
                  <a:t/>
                </a:r>
                <a:endParaRPr b="1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65" name="Google Shape;165;hadf4706f6affe00_0_2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66" name="Google Shape;166;hadf4706f6affe00_0_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67" name="Google Shape;167;hadf4706f6affe00_0_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8" name="Google Shape;168;hadf4706f6affe00_0_2"/>
              <p:cNvSpPr txBox="1"/>
              <p:nvPr/>
            </p:nvSpPr>
            <p:spPr>
              <a:xfrm>
                <a:off x="296101" y="1599937"/>
                <a:ext cx="1872600" cy="11367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Casteo de variables</a:t>
                </a: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 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AutoNum type="arabicPeriod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Nominales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AutoNum type="arabicPeriod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Ordinarias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AutoNum type="arabicPeriod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Numericas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AutoNum type="arabicPeriod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Booleanas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</p:txBody>
          </p:sp>
        </p:grpSp>
      </p:grpSp>
      <p:grpSp>
        <p:nvGrpSpPr>
          <p:cNvPr id="169" name="Google Shape;169;hadf4706f6affe00_0_2"/>
          <p:cNvGrpSpPr/>
          <p:nvPr/>
        </p:nvGrpSpPr>
        <p:grpSpPr>
          <a:xfrm>
            <a:off x="2375188" y="3656733"/>
            <a:ext cx="3861534" cy="1807465"/>
            <a:chOff x="1953130" y="3079467"/>
            <a:chExt cx="2896223" cy="1355633"/>
          </a:xfrm>
        </p:grpSpPr>
        <p:sp>
          <p:nvSpPr>
            <p:cNvPr id="170" name="Google Shape;170;hadf4706f6affe00_0_2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942A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" name="Google Shape;171;hadf4706f6affe00_0_2"/>
            <p:cNvGrpSpPr/>
            <p:nvPr/>
          </p:nvGrpSpPr>
          <p:grpSpPr>
            <a:xfrm>
              <a:off x="1953130" y="3079467"/>
              <a:ext cx="2253600" cy="1355633"/>
              <a:chOff x="1953130" y="3079467"/>
              <a:chExt cx="2253600" cy="1355633"/>
            </a:xfrm>
          </p:grpSpPr>
          <p:grpSp>
            <p:nvGrpSpPr>
              <p:cNvPr id="172" name="Google Shape;172;hadf4706f6affe00_0_2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73" name="Google Shape;173;hadf4706f6affe00_0_2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4" name="Google Shape;174;hadf4706f6affe00_0_2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5" name="Google Shape;175;hadf4706f6affe00_0_2"/>
              <p:cNvSpPr txBox="1"/>
              <p:nvPr/>
            </p:nvSpPr>
            <p:spPr>
              <a:xfrm>
                <a:off x="1953130" y="3491300"/>
                <a:ext cx="2253600" cy="9438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Distribución de Variables </a:t>
                </a: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Numéricas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Distribución normal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Schibsted Grotesk Medium"/>
                  <a:buChar char="●"/>
                </a:pP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Distribuciones</a:t>
                </a:r>
                <a:r>
                  <a:rPr lang="en-US" sz="1100">
                    <a:solidFill>
                      <a:schemeClr val="lt1"/>
                    </a:solidFill>
                    <a:latin typeface="Schibsted Grotesk Medium"/>
                    <a:ea typeface="Schibsted Grotesk Medium"/>
                    <a:cs typeface="Schibsted Grotesk Medium"/>
                    <a:sym typeface="Schibsted Grotesk Medium"/>
                  </a:rPr>
                  <a:t> sesgadas</a:t>
                </a:r>
                <a:endParaRPr sz="1100">
                  <a:solidFill>
                    <a:schemeClr val="lt1"/>
                  </a:solidFill>
                  <a:latin typeface="Schibsted Grotesk Medium"/>
                  <a:ea typeface="Schibsted Grotesk Medium"/>
                  <a:cs typeface="Schibsted Grotesk Medium"/>
                  <a:sym typeface="Schibsted Grotesk Medium"/>
                </a:endParaRPr>
              </a:p>
            </p:txBody>
          </p:sp>
        </p:grpSp>
      </p:grpSp>
      <p:sp>
        <p:nvSpPr>
          <p:cNvPr id="176" name="Google Shape;176;hadf4706f6affe00_0_2"/>
          <p:cNvSpPr txBox="1"/>
          <p:nvPr/>
        </p:nvSpPr>
        <p:spPr>
          <a:xfrm>
            <a:off x="2831847" y="2994350"/>
            <a:ext cx="15660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Método de Escalamiento</a:t>
            </a:r>
            <a:endParaRPr>
              <a:solidFill>
                <a:schemeClr val="lt1"/>
              </a:solidFill>
              <a:latin typeface="Schibsted Grotesk Medium"/>
              <a:ea typeface="Schibsted Grotesk Medium"/>
              <a:cs typeface="Schibsted Grotesk Medium"/>
              <a:sym typeface="Schibsted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hadf4706f6affe00_0_2"/>
          <p:cNvSpPr txBox="1"/>
          <p:nvPr/>
        </p:nvSpPr>
        <p:spPr>
          <a:xfrm>
            <a:off x="5471297" y="3968925"/>
            <a:ext cx="15660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Entrenamiento del Modelo</a:t>
            </a:r>
            <a:endParaRPr>
              <a:solidFill>
                <a:schemeClr val="lt1"/>
              </a:solidFill>
              <a:latin typeface="Schibsted Grotesk Medium"/>
              <a:ea typeface="Schibsted Grotesk Medium"/>
              <a:cs typeface="Schibsted Grotesk Medium"/>
              <a:sym typeface="Schibsted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hadf4706f6affe00_0_2"/>
          <p:cNvSpPr txBox="1"/>
          <p:nvPr/>
        </p:nvSpPr>
        <p:spPr>
          <a:xfrm>
            <a:off x="7761097" y="2769325"/>
            <a:ext cx="19521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Métricas y validación del Modelo</a:t>
            </a:r>
            <a:endParaRPr>
              <a:solidFill>
                <a:schemeClr val="lt1"/>
              </a:solidFill>
              <a:latin typeface="Schibsted Grotesk Medium"/>
              <a:ea typeface="Schibsted Grotesk Medium"/>
              <a:cs typeface="Schibsted Grotesk Medium"/>
              <a:sym typeface="Schibsted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hadf4706f6affe00_0_2"/>
          <p:cNvSpPr/>
          <p:nvPr/>
        </p:nvSpPr>
        <p:spPr>
          <a:xfrm>
            <a:off x="558786" y="751185"/>
            <a:ext cx="1107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Feature Engineering</a:t>
            </a:r>
            <a:endParaRPr sz="3600">
              <a:solidFill>
                <a:schemeClr val="dk1"/>
              </a:solidFill>
              <a:latin typeface="Schibsted Grotesk Medium"/>
              <a:ea typeface="Schibsted Grotesk Medium"/>
              <a:cs typeface="Schibsted Grotesk Medium"/>
              <a:sym typeface="Schibsted Grotesk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adf4706f6affe00_0_1272"/>
          <p:cNvSpPr/>
          <p:nvPr/>
        </p:nvSpPr>
        <p:spPr>
          <a:xfrm>
            <a:off x="558786" y="751185"/>
            <a:ext cx="1107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Matriz de Confusión - Primer Threshold</a:t>
            </a:r>
            <a:endParaRPr sz="3600">
              <a:solidFill>
                <a:schemeClr val="dk1"/>
              </a:solidFill>
              <a:latin typeface="Schibsted Grotesk ExtraBold"/>
              <a:ea typeface="Schibsted Grotesk ExtraBold"/>
              <a:cs typeface="Schibsted Grotesk ExtraBold"/>
              <a:sym typeface="Schibsted Grotesk ExtraBold"/>
            </a:endParaRPr>
          </a:p>
        </p:txBody>
      </p:sp>
      <p:graphicFrame>
        <p:nvGraphicFramePr>
          <p:cNvPr id="185" name="Google Shape;185;hadf4706f6affe00_0_1272"/>
          <p:cNvGraphicFramePr/>
          <p:nvPr/>
        </p:nvGraphicFramePr>
        <p:xfrm>
          <a:off x="7337775" y="203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{51672316-A135-4AAE-929B-F5D92558E537}</a:tableStyleId>
              </a:tblPr>
              <a:tblGrid>
                <a:gridCol w="1368775"/>
                <a:gridCol w="804325"/>
              </a:tblGrid>
              <a:tr h="65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Verdaderos Negativos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5,686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Falsos Positivos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213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Falsos Negativos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54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Verdaderos Positivos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6" name="Google Shape;186;hadf4706f6affe00_0_1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175" y="1548013"/>
            <a:ext cx="4657459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adf4706f6affe00_0_1280"/>
          <p:cNvSpPr/>
          <p:nvPr/>
        </p:nvSpPr>
        <p:spPr>
          <a:xfrm>
            <a:off x="558911" y="486585"/>
            <a:ext cx="1107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Prueba de Modelo con diferentes </a:t>
            </a: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Threshold</a:t>
            </a:r>
            <a:endParaRPr sz="3600">
              <a:solidFill>
                <a:schemeClr val="dk1"/>
              </a:solidFill>
              <a:latin typeface="Schibsted Grotesk ExtraBold"/>
              <a:ea typeface="Schibsted Grotesk ExtraBold"/>
              <a:cs typeface="Schibsted Grotesk ExtraBold"/>
              <a:sym typeface="Schibsted Grotesk ExtraBold"/>
            </a:endParaRPr>
          </a:p>
        </p:txBody>
      </p:sp>
      <p:sp>
        <p:nvSpPr>
          <p:cNvPr id="192" name="Google Shape;192;hadf4706f6affe00_0_1280"/>
          <p:cNvSpPr txBox="1"/>
          <p:nvPr/>
        </p:nvSpPr>
        <p:spPr>
          <a:xfrm>
            <a:off x="343525" y="5655164"/>
            <a:ext cx="488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Recall: 0.75 | Precision: 0.08 | TP: 76 | FP: 874 | FN: 26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93" name="Google Shape;193;hadf4706f6affe00_0_1280"/>
          <p:cNvSpPr txBox="1"/>
          <p:nvPr/>
        </p:nvSpPr>
        <p:spPr>
          <a:xfrm>
            <a:off x="6910200" y="5655164"/>
            <a:ext cx="52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Recall: 0.8922 | Precision: 0.0478 | TP: 91 | FP: 1814 | FN: 11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94" name="Google Shape;194;hadf4706f6affe00_0_1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00" y="1243224"/>
            <a:ext cx="4840340" cy="427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hadf4706f6affe00_0_12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5260" y="1243224"/>
            <a:ext cx="4840340" cy="427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adf4706f6affe00_0_1298"/>
          <p:cNvSpPr/>
          <p:nvPr/>
        </p:nvSpPr>
        <p:spPr>
          <a:xfrm>
            <a:off x="558911" y="486585"/>
            <a:ext cx="1107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Métricas y Validación de Curvas</a:t>
            </a:r>
            <a:endParaRPr sz="3600">
              <a:solidFill>
                <a:schemeClr val="dk1"/>
              </a:solidFill>
              <a:latin typeface="Schibsted Grotesk ExtraBold"/>
              <a:ea typeface="Schibsted Grotesk ExtraBold"/>
              <a:cs typeface="Schibsted Grotesk ExtraBold"/>
              <a:sym typeface="Schibsted Grotesk ExtraBold"/>
            </a:endParaRPr>
          </a:p>
        </p:txBody>
      </p:sp>
      <p:pic>
        <p:nvPicPr>
          <p:cNvPr id="201" name="Google Shape;201;hadf4706f6affe00_0_1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050" y="1295348"/>
            <a:ext cx="5303100" cy="5137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hadf4706f6affe00_0_1298"/>
          <p:cNvGraphicFramePr/>
          <p:nvPr/>
        </p:nvGraphicFramePr>
        <p:xfrm>
          <a:off x="7584700" y="21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{51672316-A135-4AAE-929B-F5D92558E537}</a:tableStyleId>
              </a:tblPr>
              <a:tblGrid>
                <a:gridCol w="1657625"/>
                <a:gridCol w="974075"/>
              </a:tblGrid>
              <a:tr h="65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Accuracy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0.6958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Precision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0.0478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Recall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0.8922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</a:tr>
              <a:tr h="63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F1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- Score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0.0907</a:t>
                      </a:r>
                      <a:r>
                        <a:rPr lang="en-US" sz="1600">
                          <a:solidFill>
                            <a:schemeClr val="lt1"/>
                          </a:solidFill>
                          <a:latin typeface="Schibsted Grotesk Medium"/>
                          <a:ea typeface="Schibsted Grotesk Medium"/>
                          <a:cs typeface="Schibsted Grotesk Medium"/>
                          <a:sym typeface="Schibsted Grotesk Medium"/>
                        </a:rPr>
                        <a:t> </a:t>
                      </a:r>
                      <a:endParaRPr sz="1900">
                        <a:solidFill>
                          <a:schemeClr val="lt1"/>
                        </a:solidFill>
                        <a:latin typeface="Schibsted Grotesk Medium"/>
                        <a:ea typeface="Schibsted Grotesk Medium"/>
                        <a:cs typeface="Schibsted Grotesk Medium"/>
                        <a:sym typeface="Schibsted Grotesk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adf4706f6affe00_0_1312"/>
          <p:cNvSpPr/>
          <p:nvPr/>
        </p:nvSpPr>
        <p:spPr>
          <a:xfrm>
            <a:off x="558911" y="486585"/>
            <a:ext cx="1107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chibsted Grotesk ExtraBold"/>
              <a:buNone/>
            </a:pPr>
            <a:r>
              <a:rPr lang="en-US" sz="3600">
                <a:solidFill>
                  <a:srgbClr val="FFFFFF"/>
                </a:solidFill>
                <a:latin typeface="Schibsted Grotesk ExtraBold"/>
                <a:ea typeface="Schibsted Grotesk ExtraBold"/>
                <a:cs typeface="Schibsted Grotesk ExtraBold"/>
                <a:sym typeface="Schibsted Grotesk ExtraBold"/>
              </a:rPr>
              <a:t>Presicion - Recall Curve</a:t>
            </a:r>
            <a:endParaRPr sz="3600">
              <a:solidFill>
                <a:schemeClr val="dk1"/>
              </a:solidFill>
              <a:latin typeface="Schibsted Grotesk ExtraBold"/>
              <a:ea typeface="Schibsted Grotesk ExtraBold"/>
              <a:cs typeface="Schibsted Grotesk ExtraBold"/>
              <a:sym typeface="Schibsted Grotesk ExtraBold"/>
            </a:endParaRPr>
          </a:p>
        </p:txBody>
      </p:sp>
      <p:pic>
        <p:nvPicPr>
          <p:cNvPr id="208" name="Google Shape;208;hadf4706f6affe00_0_1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00" y="1336974"/>
            <a:ext cx="6591551" cy="50538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hadf4706f6affe00_0_1312"/>
          <p:cNvSpPr/>
          <p:nvPr/>
        </p:nvSpPr>
        <p:spPr>
          <a:xfrm>
            <a:off x="7415927" y="2404677"/>
            <a:ext cx="4389000" cy="1899900"/>
          </a:xfrm>
          <a:prstGeom prst="roundRect">
            <a:avLst>
              <a:gd fmla="val 5053" name="adj"/>
            </a:avLst>
          </a:prstGeom>
          <a:solidFill>
            <a:srgbClr val="2245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adf4706f6affe00_0_1312"/>
          <p:cNvSpPr/>
          <p:nvPr/>
        </p:nvSpPr>
        <p:spPr>
          <a:xfrm>
            <a:off x="7644525" y="2886900"/>
            <a:ext cx="39318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chibsted Grotesk"/>
              <a:buNone/>
            </a:pPr>
            <a:r>
              <a:rPr lang="en-US" sz="1750">
                <a:solidFill>
                  <a:srgbClr val="FFFFFF"/>
                </a:solidFill>
                <a:latin typeface="Schibsted Grotesk Medium"/>
                <a:ea typeface="Schibsted Grotesk Medium"/>
                <a:cs typeface="Schibsted Grotesk Medium"/>
                <a:sym typeface="Schibsted Grotesk Medium"/>
              </a:rPr>
              <a:t>Para detectar una mayor cantidad de fraudes, debemos aceptar un mayor número de falsas alarmas.</a:t>
            </a:r>
            <a:endParaRPr sz="1750">
              <a:solidFill>
                <a:schemeClr val="dk1"/>
              </a:solidFill>
              <a:latin typeface="Schibsted Grotesk Medium"/>
              <a:ea typeface="Schibsted Grotesk Medium"/>
              <a:cs typeface="Schibsted Grotesk Medium"/>
              <a:sym typeface="Schibsted Grotes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2026-09-27T21:56:02Z</dcterms:created>
  <dc:creator>Usuario</dc:creator>
</cp:coreProperties>
</file>